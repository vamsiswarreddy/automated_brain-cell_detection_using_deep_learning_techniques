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72" r:id="rId5"/>
    <p:sldId id="257" r:id="rId6"/>
    <p:sldId id="276" r:id="rId7"/>
    <p:sldId id="258" r:id="rId8"/>
    <p:sldId id="259" r:id="rId9"/>
    <p:sldId id="279" r:id="rId10"/>
    <p:sldId id="260" r:id="rId11"/>
    <p:sldId id="280" r:id="rId12"/>
    <p:sldId id="261" r:id="rId13"/>
    <p:sldId id="275" r:id="rId14"/>
    <p:sldId id="262" r:id="rId15"/>
    <p:sldId id="281" r:id="rId16"/>
    <p:sldId id="263" r:id="rId17"/>
    <p:sldId id="264" r:id="rId18"/>
    <p:sldId id="282" r:id="rId19"/>
    <p:sldId id="265" r:id="rId20"/>
    <p:sldId id="285" r:id="rId21"/>
    <p:sldId id="274" r:id="rId22"/>
    <p:sldId id="283" r:id="rId23"/>
    <p:sldId id="266" r:id="rId24"/>
    <p:sldId id="284" r:id="rId25"/>
    <p:sldId id="267" r:id="rId26"/>
    <p:sldId id="286" r:id="rId27"/>
    <p:sldId id="269" r:id="rId28"/>
    <p:sldId id="27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234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2301D2-211A-7B33-32B5-9BF44B2D1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2768" y="2096906"/>
            <a:ext cx="6242304" cy="3986714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Automated Brain Cell Detection and</a:t>
            </a:r>
          </a:p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 Using Deep Learning</a:t>
            </a:r>
          </a:p>
          <a:p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K VEERA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VAMSISWAR REDDY 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215890028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Manaswita Saikia</a:t>
            </a:r>
          </a:p>
          <a:p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Engineering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MIT, BENGALURU.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Year:2025-2026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7B882-A125-B61B-F3DC-5932289895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8763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9F67BA-9F66-C19D-E746-2E78241DF7AF}"/>
              </a:ext>
            </a:extLst>
          </p:cNvPr>
          <p:cNvSpPr txBox="1"/>
          <p:nvPr/>
        </p:nvSpPr>
        <p:spPr>
          <a:xfrm>
            <a:off x="982265" y="1244231"/>
            <a:ext cx="71794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/>
              <a:t>End Term Project Presentation  </a:t>
            </a:r>
          </a:p>
        </p:txBody>
      </p:sp>
    </p:spTree>
    <p:extLst>
      <p:ext uri="{BB962C8B-B14F-4D97-AF65-F5344CB8AC3E}">
        <p14:creationId xmlns:p14="http://schemas.microsoft.com/office/powerpoint/2010/main" val="65938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1408494"/>
            <a:ext cx="8467344" cy="5053265"/>
          </a:xfrm>
        </p:spPr>
        <p:txBody>
          <a:bodyPr>
            <a:noAutofit/>
          </a:bodyPr>
          <a:lstStyle/>
          <a:p>
            <a:r>
              <a:rPr lang="en-US" sz="3000" dirty="0"/>
              <a:t>Brain microscopy image analysis is important in biomedical research.</a:t>
            </a:r>
          </a:p>
          <a:p>
            <a:r>
              <a:rPr lang="en-US" sz="3000" dirty="0"/>
              <a:t> Manual cell detection is time-consuming and difficult.</a:t>
            </a:r>
          </a:p>
          <a:p>
            <a:r>
              <a:rPr lang="en-US" sz="3000" dirty="0"/>
              <a:t> Deep learning helps automate segmentation and detection tasks. </a:t>
            </a:r>
          </a:p>
          <a:p>
            <a:r>
              <a:rPr lang="en-US" sz="3000" dirty="0"/>
              <a:t>The project focuses on automated brain cell detection. </a:t>
            </a:r>
          </a:p>
          <a:p>
            <a:r>
              <a:rPr lang="en-US" sz="3000" dirty="0"/>
              <a:t>Multiple AI models are used for comparative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846E5-464E-A75E-3A10-B6ABD2C95F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0620-0177-865F-BFFE-9F9FE120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EA070-D265-7E9D-1F87-2B0102C12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Figure 1.1 Sample Brain Microscopy Images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FCAC9-E4F1-89C3-ACAC-816B155516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9.jpg" descr="Neurons cells from the brain under the microscope view for education.">
            <a:extLst>
              <a:ext uri="{FF2B5EF4-FFF2-40B4-BE49-F238E27FC236}">
                <a16:creationId xmlns:a16="http://schemas.microsoft.com/office/drawing/2014/main" id="{C790D310-BF82-F3E7-2AA5-96DA9122171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010833" y="1417638"/>
            <a:ext cx="5122333" cy="361526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6529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Manual analysis may lead to human errors.</a:t>
            </a:r>
          </a:p>
          <a:p>
            <a:r>
              <a:rPr lang="en-US" dirty="0"/>
              <a:t>High-resolution images are difficult to process manually. </a:t>
            </a:r>
          </a:p>
          <a:p>
            <a:r>
              <a:rPr lang="en-US" dirty="0"/>
              <a:t>Existing systems mostly use single-model approaches. </a:t>
            </a:r>
          </a:p>
          <a:p>
            <a:r>
              <a:rPr lang="en-US" dirty="0"/>
              <a:t>Automated analysis improves speed and efficiency. </a:t>
            </a:r>
          </a:p>
          <a:p>
            <a:r>
              <a:rPr lang="en-US" dirty="0"/>
              <a:t>Comparative frameworks improve flexibility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E29C9A-FFA0-9E6C-D624-9E4B11B35A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Developed a unified deep learning framework.</a:t>
            </a:r>
          </a:p>
          <a:p>
            <a:r>
              <a:rPr lang="en-US" dirty="0"/>
              <a:t>Integrated segmentation and detection models. </a:t>
            </a:r>
          </a:p>
          <a:p>
            <a:r>
              <a:rPr lang="en-US" dirty="0"/>
              <a:t>Compared YOLOv8, BDA, and MEDIAR outputs. </a:t>
            </a:r>
          </a:p>
          <a:p>
            <a:r>
              <a:rPr lang="en-US" dirty="0"/>
              <a:t>Added GUI and backend workflow support.</a:t>
            </a:r>
          </a:p>
          <a:p>
            <a:r>
              <a:rPr lang="en-US" dirty="0"/>
              <a:t>Improved automated microscopy analysis.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DFBA1-3A73-D2EE-CAB8-FD8236A931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F9C4F-F162-DBAF-19A3-1D35D14F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AC94-A195-07AD-DF44-11510429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55C8E-F9B7-32FB-BAC2-4856BD0CC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Figure 1.2 GUI and Backend Architecture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F6F2C-64B2-F678-57B9-01093540A6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15.jpg" descr="Revolutionizing Sonography: A Cutting-Edge System Architecture for Image Analysis | by Kumar Shivam | Medium">
            <a:extLst>
              <a:ext uri="{FF2B5EF4-FFF2-40B4-BE49-F238E27FC236}">
                <a16:creationId xmlns:a16="http://schemas.microsoft.com/office/drawing/2014/main" id="{17AA15A5-0A4B-9243-F202-C56229F983B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191172" y="1508323"/>
            <a:ext cx="4761655" cy="34616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63795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SAM provides general-purpose segmentation masks. </a:t>
            </a:r>
          </a:p>
          <a:p>
            <a:r>
              <a:rPr lang="en-IN" dirty="0"/>
              <a:t>YOLOv8 performs fast real-time object detection. </a:t>
            </a:r>
          </a:p>
          <a:p>
            <a:r>
              <a:rPr lang="en-IN" dirty="0"/>
              <a:t>MEDIAR supports microscopy image segmentation. </a:t>
            </a:r>
          </a:p>
          <a:p>
            <a:r>
              <a:rPr lang="en-IN" dirty="0"/>
              <a:t>BDA focuses on contour and boundary extraction.</a:t>
            </a:r>
          </a:p>
          <a:p>
            <a:r>
              <a:rPr lang="en-IN" dirty="0"/>
              <a:t> Mask R-CNN provides instance-level segmentation.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5F725-F087-C8FA-A685-F06FFD72DB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7DD3-8057-9CDA-BBCB-A44B1E3F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E94713-7F16-BDBB-15D5-ECBABC24D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9474043"/>
              </p:ext>
            </p:extLst>
          </p:nvPr>
        </p:nvGraphicFramePr>
        <p:xfrm>
          <a:off x="1176867" y="1964268"/>
          <a:ext cx="6849532" cy="2666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3476">
                  <a:extLst>
                    <a:ext uri="{9D8B030D-6E8A-4147-A177-3AD203B41FA5}">
                      <a16:colId xmlns:a16="http://schemas.microsoft.com/office/drawing/2014/main" val="1865734553"/>
                    </a:ext>
                  </a:extLst>
                </a:gridCol>
                <a:gridCol w="2156417">
                  <a:extLst>
                    <a:ext uri="{9D8B030D-6E8A-4147-A177-3AD203B41FA5}">
                      <a16:colId xmlns:a16="http://schemas.microsoft.com/office/drawing/2014/main" val="3955496814"/>
                    </a:ext>
                  </a:extLst>
                </a:gridCol>
                <a:gridCol w="2409639">
                  <a:extLst>
                    <a:ext uri="{9D8B030D-6E8A-4147-A177-3AD203B41FA5}">
                      <a16:colId xmlns:a16="http://schemas.microsoft.com/office/drawing/2014/main" val="2716506070"/>
                    </a:ext>
                  </a:extLst>
                </a:gridCol>
              </a:tblGrid>
              <a:tr h="109344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200">
                          <a:effectLst/>
                        </a:rPr>
                        <a:t>Segmentation Models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 dirty="0">
                          <a:effectLst/>
                        </a:rPr>
                        <a:t>Detection Models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>
                          <a:effectLst/>
                        </a:rPr>
                        <a:t>Cell Detection Models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965140"/>
                  </a:ext>
                </a:extLst>
              </a:tr>
              <a:tr h="524519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>
                          <a:effectLst/>
                        </a:rPr>
                        <a:t>SAM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>
                          <a:effectLst/>
                        </a:rPr>
                        <a:t>SAHI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>
                          <a:effectLst/>
                        </a:rPr>
                        <a:t>BDA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1016993"/>
                  </a:ext>
                </a:extLst>
              </a:tr>
              <a:tr h="524519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>
                          <a:effectLst/>
                        </a:rPr>
                        <a:t>CA-Net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>
                          <a:effectLst/>
                        </a:rPr>
                        <a:t>DETR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>
                          <a:effectLst/>
                        </a:rPr>
                        <a:t>MEDIAR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0821138"/>
                  </a:ext>
                </a:extLst>
              </a:tr>
              <a:tr h="524519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>
                          <a:effectLst/>
                        </a:rPr>
                        <a:t>Mask R-CNN</a:t>
                      </a:r>
                      <a:endParaRPr lang="en-IN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 dirty="0" err="1">
                          <a:effectLst/>
                        </a:rPr>
                        <a:t>FreeSolo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buNone/>
                      </a:pPr>
                      <a:r>
                        <a:rPr lang="en-IN" sz="1200" dirty="0">
                          <a:effectLst/>
                        </a:rPr>
                        <a:t>YOLOv8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926286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FC08360-9995-AFBB-9C06-EA139BE2E2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0BEAD6-07E5-9E5C-A62B-6E65CA46A8DA}"/>
              </a:ext>
            </a:extLst>
          </p:cNvPr>
          <p:cNvSpPr txBox="1"/>
          <p:nvPr/>
        </p:nvSpPr>
        <p:spPr>
          <a:xfrm>
            <a:off x="1587499" y="4668702"/>
            <a:ext cx="5511800" cy="406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1.3 Classification of Deep Learning Models Used</a:t>
            </a: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173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microscopy image is uploaded through GUI. </a:t>
            </a:r>
          </a:p>
          <a:p>
            <a:r>
              <a:rPr lang="en-US" dirty="0"/>
              <a:t>Image preprocessing is performed in backend.</a:t>
            </a:r>
          </a:p>
          <a:p>
            <a:r>
              <a:rPr lang="en-US" dirty="0"/>
              <a:t>Selected model processes the image.</a:t>
            </a:r>
          </a:p>
          <a:p>
            <a:r>
              <a:rPr lang="en-US" dirty="0"/>
              <a:t>Detection or segmentation outputs are generated. </a:t>
            </a:r>
          </a:p>
          <a:p>
            <a:r>
              <a:rPr lang="en-US" dirty="0"/>
              <a:t>Results are visualized in GUI.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F964C-53AF-A3B6-00BD-7DD246EDE7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8A5E-4E5B-03FE-9583-0C6E71AA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B46F24-5217-5BCA-8FB7-17539DB5B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6327" y="1351778"/>
            <a:ext cx="3554436" cy="5331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03A967-8B00-5E92-AB0C-5541E9C626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97006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images are preprocessed.</a:t>
            </a:r>
          </a:p>
          <a:p>
            <a:r>
              <a:rPr lang="en-US" dirty="0"/>
              <a:t> Images are resized and normalized. </a:t>
            </a:r>
          </a:p>
          <a:p>
            <a:r>
              <a:rPr lang="en-US" dirty="0"/>
              <a:t>YOLOv8 performs cell detection. </a:t>
            </a:r>
          </a:p>
          <a:p>
            <a:r>
              <a:rPr lang="en-US" dirty="0"/>
              <a:t>BDA extracts contour boundaries. </a:t>
            </a:r>
          </a:p>
          <a:p>
            <a:r>
              <a:rPr lang="en-US" dirty="0"/>
              <a:t>MEDIAR generates segmentation outputs.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16C0C2-6B25-4A4E-A55A-66C0EDD51A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F7E29-26C8-DEA5-FB92-9113DEAC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69147-304B-AB1F-AFFC-04B0C7333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                          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IN" sz="1200" dirty="0"/>
              <a:t>                           (a) Input image                                                      (b) Yolov8/F-T results</a:t>
            </a:r>
            <a:endParaRPr lang="en-US" sz="1200" dirty="0"/>
          </a:p>
          <a:p>
            <a:pPr marL="0" indent="0">
              <a:buNone/>
            </a:pPr>
            <a:r>
              <a:rPr lang="en-IN" sz="1800" dirty="0"/>
              <a:t>                   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sz="1200" dirty="0"/>
              <a:t>                           (a) Input image                                                         (b) BDA results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                                         </a:t>
            </a:r>
            <a:r>
              <a:rPr lang="en-IN" sz="1500" dirty="0"/>
              <a:t>Figure 1.6 YOLOV8 and BDA Detection Results</a:t>
            </a:r>
          </a:p>
          <a:p>
            <a:pPr marL="0" indent="0">
              <a:buNone/>
            </a:pPr>
            <a:r>
              <a:rPr lang="en-IN" sz="1200" dirty="0"/>
              <a:t>                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F9974-2A9A-20E6-9F31-5478394E88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10.jpg">
            <a:extLst>
              <a:ext uri="{FF2B5EF4-FFF2-40B4-BE49-F238E27FC236}">
                <a16:creationId xmlns:a16="http://schemas.microsoft.com/office/drawing/2014/main" id="{7B0F60DE-582F-7DC1-113A-886D30EA833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84604" y="1600200"/>
            <a:ext cx="1560195" cy="1560195"/>
          </a:xfrm>
          <a:prstGeom prst="rect">
            <a:avLst/>
          </a:prstGeom>
          <a:ln/>
        </p:spPr>
      </p:pic>
      <p:pic>
        <p:nvPicPr>
          <p:cNvPr id="7" name="image4.jpg">
            <a:extLst>
              <a:ext uri="{FF2B5EF4-FFF2-40B4-BE49-F238E27FC236}">
                <a16:creationId xmlns:a16="http://schemas.microsoft.com/office/drawing/2014/main" id="{0541189A-90B1-2649-C777-4A719F31687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205604" y="1600200"/>
            <a:ext cx="1560195" cy="1526328"/>
          </a:xfrm>
          <a:prstGeom prst="rect">
            <a:avLst/>
          </a:prstGeom>
          <a:ln/>
        </p:spPr>
      </p:pic>
      <p:pic>
        <p:nvPicPr>
          <p:cNvPr id="9" name="image11.jpg">
            <a:extLst>
              <a:ext uri="{FF2B5EF4-FFF2-40B4-BE49-F238E27FC236}">
                <a16:creationId xmlns:a16="http://schemas.microsoft.com/office/drawing/2014/main" id="{7E10612C-612F-DD88-8720-28D4692BAE47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1284605" y="3697605"/>
            <a:ext cx="1560195" cy="1560195"/>
          </a:xfrm>
          <a:prstGeom prst="rect">
            <a:avLst/>
          </a:prstGeom>
          <a:ln/>
        </p:spPr>
      </p:pic>
      <p:pic>
        <p:nvPicPr>
          <p:cNvPr id="10" name="image2.jpg">
            <a:extLst>
              <a:ext uri="{FF2B5EF4-FFF2-40B4-BE49-F238E27FC236}">
                <a16:creationId xmlns:a16="http://schemas.microsoft.com/office/drawing/2014/main" id="{95B3C661-420C-AA2D-CF56-B275998690C7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4205604" y="3697605"/>
            <a:ext cx="1560195" cy="156019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93566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&amp; Tech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used for implementation. </a:t>
            </a:r>
          </a:p>
          <a:p>
            <a:r>
              <a:rPr lang="en-US" dirty="0"/>
              <a:t>OpenCV used for image preprocessing.</a:t>
            </a:r>
          </a:p>
          <a:p>
            <a:r>
              <a:rPr lang="en-US" dirty="0" err="1"/>
              <a:t>PyTorch</a:t>
            </a:r>
            <a:r>
              <a:rPr lang="en-US" dirty="0"/>
              <a:t> and TensorFlow used for deep learning. </a:t>
            </a:r>
          </a:p>
          <a:p>
            <a:r>
              <a:rPr lang="en-US" dirty="0"/>
              <a:t>Flask used for backend integration.</a:t>
            </a:r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used for GPU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DC1F8-EA3F-F6EB-2A7E-9222F08D06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YOLOv8 generated accurate cell detections.</a:t>
            </a:r>
          </a:p>
          <a:p>
            <a:r>
              <a:rPr lang="en-US" dirty="0"/>
              <a:t>MEDIAR produced detailed segmentation outputs.</a:t>
            </a:r>
          </a:p>
          <a:p>
            <a:r>
              <a:rPr lang="en-US" dirty="0"/>
              <a:t> BDA generated contour-based cell boundaries.</a:t>
            </a:r>
          </a:p>
          <a:p>
            <a:r>
              <a:rPr lang="en-US" dirty="0"/>
              <a:t> Outputs were compared with Ground Truth values. </a:t>
            </a:r>
          </a:p>
          <a:p>
            <a:r>
              <a:rPr lang="en-US" dirty="0"/>
              <a:t>Comparative analysis was performed on two datasets.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3CFB1F-95D7-5265-71E9-4D5AD6FC6F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BCEF-5A03-F8A9-235A-9ABE74D4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AF591-EF4F-A2CA-9C73-77F12A9D8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Figure 1.6 MEDIAR Detection Results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18CE3-0BF0-8E5A-ACE4-A7AAFB9A40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20.png">
            <a:extLst>
              <a:ext uri="{FF2B5EF4-FFF2-40B4-BE49-F238E27FC236}">
                <a16:creationId xmlns:a16="http://schemas.microsoft.com/office/drawing/2014/main" id="{793D347F-EC3A-9D57-1D74-F37A22216A2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97000" y="1890497"/>
            <a:ext cx="6349999" cy="307700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91459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YOLOv8/F-T achieved highest average accuracy.</a:t>
            </a:r>
          </a:p>
          <a:p>
            <a:r>
              <a:rPr lang="en-IN" dirty="0"/>
              <a:t>MEDIAR performed well for segmentation tasks.</a:t>
            </a:r>
          </a:p>
          <a:p>
            <a:r>
              <a:rPr lang="en-IN" dirty="0"/>
              <a:t>BDA was effective for contour extraction.</a:t>
            </a:r>
          </a:p>
          <a:p>
            <a:r>
              <a:rPr lang="en-IN" dirty="0"/>
              <a:t>YOLOv8 showed faster inference speed.</a:t>
            </a:r>
          </a:p>
          <a:p>
            <a:r>
              <a:rPr lang="en-IN" dirty="0"/>
              <a:t>Comparative evaluation improved analysis quality.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9DE21-5AA8-82CF-D782-BB48545BD2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848BE-4C0C-E1BE-912F-146FF221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E2751-4B39-E7FC-D23C-1AB4CB6E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Figure 1.7 Set-1 Results of cell count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D8183-38B7-F283-BF2B-20ABEAA11C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18.png">
            <a:extLst>
              <a:ext uri="{FF2B5EF4-FFF2-40B4-BE49-F238E27FC236}">
                <a16:creationId xmlns:a16="http://schemas.microsoft.com/office/drawing/2014/main" id="{5D314AA5-C682-A589-04A8-85BB4C1E9EC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04950" y="1936115"/>
            <a:ext cx="6134100" cy="298577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029084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FDB0F-3441-D1B4-D3A3-7A6ACDDB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7BD5-48EA-8821-FD5F-CD6021F1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EBB9-E136-71BE-E5EA-738129565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YOLOv8 produced results closer to Ground Truth. </a:t>
            </a:r>
          </a:p>
          <a:p>
            <a:r>
              <a:rPr lang="en-IN" dirty="0"/>
              <a:t>MEDIAR improved segmentation quality.</a:t>
            </a:r>
          </a:p>
          <a:p>
            <a:r>
              <a:rPr lang="en-IN" dirty="0"/>
              <a:t> BDA performed better for contour visualization. </a:t>
            </a:r>
          </a:p>
          <a:p>
            <a:r>
              <a:rPr lang="en-IN" dirty="0"/>
              <a:t>Multi-model integration improved flexibility.</a:t>
            </a:r>
          </a:p>
          <a:p>
            <a:r>
              <a:rPr lang="en-IN" dirty="0"/>
              <a:t>Deep learning improved automated analysis.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85AEA-DC69-791D-FB96-13D048ED14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94799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F9A8-B4E0-4AE8-7E1C-6B7E0790A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5BF5E-32DE-9188-DFBE-44F344E0A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Figure 1.8 BDA Contour Detection Output </a:t>
            </a:r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274EAA60-3C3D-30F0-71EF-210774860B4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85012" y="2009457"/>
            <a:ext cx="5973975" cy="2839085"/>
          </a:xfrm>
          <a:prstGeom prst="rect">
            <a:avLst/>
          </a:prstGeom>
          <a:ln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41A589-F32E-4347-BD9E-8F44E33F9C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31119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Automated brain cell detection framework was developed. </a:t>
            </a:r>
          </a:p>
          <a:p>
            <a:r>
              <a:rPr lang="en-US" dirty="0"/>
              <a:t>Multiple models were integrated successfully.</a:t>
            </a:r>
          </a:p>
          <a:p>
            <a:r>
              <a:rPr lang="en-US" dirty="0"/>
              <a:t>YOLOv8 achieved highest detection accuracy.</a:t>
            </a:r>
          </a:p>
          <a:p>
            <a:r>
              <a:rPr lang="en-US" dirty="0"/>
              <a:t>MEDIAR improved segmentation performance. </a:t>
            </a:r>
          </a:p>
          <a:p>
            <a:r>
              <a:rPr lang="en-US" dirty="0"/>
              <a:t>The framework supports biomedical image analysis.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17B2E2-1278-2DAD-4B1E-5167C3D062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207A8-36F8-FD8C-EF8B-169CEEE4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C831E-D97E-351F-6A30-2706239F6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30953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  Figure 1.9 Comparative Output Visualization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26FB9-2930-03B6-D75D-88E4BC9C41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19.jpg">
            <a:extLst>
              <a:ext uri="{FF2B5EF4-FFF2-40B4-BE49-F238E27FC236}">
                <a16:creationId xmlns:a16="http://schemas.microsoft.com/office/drawing/2014/main" id="{94102B5E-BA4A-7B2C-9856-C4041D86333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150534" y="1600200"/>
            <a:ext cx="4842932" cy="318346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441315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Add larger microscopy datasets.</a:t>
            </a:r>
          </a:p>
          <a:p>
            <a:r>
              <a:rPr lang="en-IN" dirty="0"/>
              <a:t> Improve model optimization.</a:t>
            </a:r>
          </a:p>
          <a:p>
            <a:r>
              <a:rPr lang="en-IN" dirty="0"/>
              <a:t> Develop real-time web deployment.</a:t>
            </a:r>
          </a:p>
          <a:p>
            <a:r>
              <a:rPr lang="en-IN" dirty="0"/>
              <a:t> Integrate additional AI models. </a:t>
            </a:r>
          </a:p>
          <a:p>
            <a:r>
              <a:rPr lang="en-IN" dirty="0"/>
              <a:t>Extend system for medical diagnosis.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7F64B-F562-2AFF-7425-A0D6EC10F8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8163-A841-5461-2DFB-58F11829C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pic>
        <p:nvPicPr>
          <p:cNvPr id="5" name="Content Placeholder 4" descr="medical technology Doctors will use AI robots to diagnose, care for, and increase the accuracy of patient treatment in the future. Medical research and development of medical innovations">
            <a:extLst>
              <a:ext uri="{FF2B5EF4-FFF2-40B4-BE49-F238E27FC236}">
                <a16:creationId xmlns:a16="http://schemas.microsoft.com/office/drawing/2014/main" id="{7816C181-CFCC-A607-E94F-AAC84252E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996" y="1417638"/>
            <a:ext cx="8420804" cy="52099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EC718D-B0F7-F4CE-FC4A-FDEF04263D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09350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[1] Kirillov et al., Segment Anything, ICCV 2023</a:t>
            </a:r>
          </a:p>
          <a:p>
            <a:r>
              <a:rPr lang="en-US" dirty="0"/>
              <a:t>[2] Redmon et al., You Only Look Once, CVPR 2016</a:t>
            </a:r>
          </a:p>
          <a:p>
            <a:r>
              <a:rPr lang="en-US" dirty="0"/>
              <a:t>[3] He et al., Mask R-CNN, ICCV 2017</a:t>
            </a:r>
          </a:p>
          <a:p>
            <a:r>
              <a:rPr lang="en-US" dirty="0"/>
              <a:t>[4] Carion et al., End-to-End Object Detection with Transformers (DETR), ECCV 2020</a:t>
            </a:r>
          </a:p>
          <a:p>
            <a:r>
              <a:rPr lang="en-US" dirty="0"/>
              <a:t>[5] Lee et al., MEDIAR: Harmony of Data-Heterogeneity and Model-Uncertainty, NeurIPS 2022</a:t>
            </a:r>
          </a:p>
          <a:p>
            <a:r>
              <a:rPr lang="en-US" dirty="0"/>
              <a:t>[6] Upschulte et al., Contour Proposal Networks for Biomedical Instance Segmentation, 2022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7C112-AE8C-AC84-879B-211998502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39534"/>
            <a:ext cx="8229600" cy="1667933"/>
          </a:xfrm>
        </p:spPr>
        <p:txBody>
          <a:bodyPr>
            <a:noAutofit/>
          </a:bodyPr>
          <a:lstStyle/>
          <a:p>
            <a:r>
              <a:rPr sz="7200" dirty="0"/>
              <a:t>Thank You</a:t>
            </a:r>
            <a:br>
              <a:rPr lang="en-IN" sz="7200" dirty="0"/>
            </a:br>
            <a:endParaRPr sz="7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0C300-1D30-788F-980A-67A98B829E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5925264" y="23087"/>
            <a:ext cx="3089434" cy="597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FF11FB9CA6F459B93219652EDED8C" ma:contentTypeVersion="16" ma:contentTypeDescription="Create a new document." ma:contentTypeScope="" ma:versionID="8f9396872823b77f02e91482beb78e93">
  <xsd:schema xmlns:xsd="http://www.w3.org/2001/XMLSchema" xmlns:xs="http://www.w3.org/2001/XMLSchema" xmlns:p="http://schemas.microsoft.com/office/2006/metadata/properties" xmlns:ns3="1ebbfa93-c2c5-442d-9866-55b583ea4d04" xmlns:ns4="8fad8028-2e2d-45b7-b365-5ff4b53f538f" targetNamespace="http://schemas.microsoft.com/office/2006/metadata/properties" ma:root="true" ma:fieldsID="2faeb326f6f84cdc6923079a859e0b1e" ns3:_="" ns4:_="">
    <xsd:import namespace="1ebbfa93-c2c5-442d-9866-55b583ea4d04"/>
    <xsd:import namespace="8fad8028-2e2d-45b7-b365-5ff4b53f538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bbfa93-c2c5-442d-9866-55b583ea4d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ad8028-2e2d-45b7-b365-5ff4b53f538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bbfa93-c2c5-442d-9866-55b583ea4d04" xsi:nil="true"/>
  </documentManagement>
</p:properties>
</file>

<file path=customXml/itemProps1.xml><?xml version="1.0" encoding="utf-8"?>
<ds:datastoreItem xmlns:ds="http://schemas.openxmlformats.org/officeDocument/2006/customXml" ds:itemID="{37BC0B2E-4554-4AEC-A943-A5F99E066E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bbfa93-c2c5-442d-9866-55b583ea4d04"/>
    <ds:schemaRef ds:uri="8fad8028-2e2d-45b7-b365-5ff4b53f53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42616B-025B-4AFF-ABDC-CCBE0B5B78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E6A16E-7ACC-4845-B6EE-0E00124AB15B}">
  <ds:schemaRefs>
    <ds:schemaRef ds:uri="http://www.w3.org/XML/1998/namespace"/>
    <ds:schemaRef ds:uri="1ebbfa93-c2c5-442d-9866-55b583ea4d04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8fad8028-2e2d-45b7-b365-5ff4b53f538f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673</Words>
  <Application>Microsoft Office PowerPoint</Application>
  <PresentationFormat>On-screen Show (4:3)</PresentationFormat>
  <Paragraphs>170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PowerPoint Presentation</vt:lpstr>
      <vt:lpstr>Introduction</vt:lpstr>
      <vt:lpstr>Introduction</vt:lpstr>
      <vt:lpstr>Motivation</vt:lpstr>
      <vt:lpstr>Contribution</vt:lpstr>
      <vt:lpstr>Contribution</vt:lpstr>
      <vt:lpstr>Literature Review</vt:lpstr>
      <vt:lpstr>Literature Review</vt:lpstr>
      <vt:lpstr>System Architecture</vt:lpstr>
      <vt:lpstr>System Architecture </vt:lpstr>
      <vt:lpstr>Methodology</vt:lpstr>
      <vt:lpstr>Methodology</vt:lpstr>
      <vt:lpstr>Tools &amp; Tech </vt:lpstr>
      <vt:lpstr>Results</vt:lpstr>
      <vt:lpstr>Results</vt:lpstr>
      <vt:lpstr>Performance Metrics</vt:lpstr>
      <vt:lpstr>Performance Metrics</vt:lpstr>
      <vt:lpstr>Analysis</vt:lpstr>
      <vt:lpstr>Analysis</vt:lpstr>
      <vt:lpstr>Conclusion</vt:lpstr>
      <vt:lpstr>Conclusion</vt:lpstr>
      <vt:lpstr>Future Scope</vt:lpstr>
      <vt:lpstr>Future Scope</vt:lpstr>
      <vt:lpstr>References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Abhijit Das [MAHE-MITBLR]</dc:creator>
  <cp:keywords/>
  <dc:description>generated using python-pptx</dc:description>
  <cp:lastModifiedBy>KUNAMREDDY VEERAVAMSISWARREDDY-(App. No121055673)</cp:lastModifiedBy>
  <cp:revision>4</cp:revision>
  <dcterms:created xsi:type="dcterms:W3CDTF">2013-01-27T09:14:16Z</dcterms:created>
  <dcterms:modified xsi:type="dcterms:W3CDTF">2026-05-20T04:47:46Z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0x010100367FF11FB9CA6F459B93219652EDED8C</vt:lpwstr>
  </property>
</Properties>
</file>